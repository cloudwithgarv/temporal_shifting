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7" r:id="rId14"/>
    <p:sldId id="268" r:id="rId15"/>
    <p:sldId id="274" r:id="rId16"/>
    <p:sldId id="275" r:id="rId17"/>
    <p:sldId id="276" r:id="rId18"/>
    <p:sldId id="269" r:id="rId19"/>
    <p:sldId id="270" r:id="rId20"/>
    <p:sldId id="271" r:id="rId21"/>
    <p:sldId id="272" r:id="rId22"/>
    <p:sldId id="273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1429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32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3849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055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43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642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54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321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729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25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904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6619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Cost-Aware Probabilistic Temporal Shifting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Carbon-Aware Cloud Data Centers</a:t>
            </a:r>
          </a:p>
          <a:p>
            <a:r>
              <a:t>Comprehensive Research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Rapid growth of cloud data centers increases carbon emissions</a:t>
            </a:r>
          </a:p>
          <a:p>
            <a:pPr lvl="1"/>
            <a:r>
              <a:t>Need alignment of workloads with low-carbon energy</a:t>
            </a:r>
          </a:p>
          <a:p>
            <a:pPr lvl="1"/>
            <a:r>
              <a:t>Temporal shifting reduces emissions but impacts cost and SLA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Deterministic job duration assumptions</a:t>
            </a:r>
          </a:p>
          <a:p>
            <a:pPr lvl="1"/>
            <a:r>
              <a:t>Reserved instance idle cost ignored</a:t>
            </a:r>
          </a:p>
          <a:p>
            <a:pPr lvl="1"/>
            <a:r>
              <a:t>Carbon-only optimization increases SLA violations</a:t>
            </a:r>
          </a:p>
          <a:p>
            <a:pPr lvl="1"/>
            <a:r>
              <a:t>Lack of integrated carbon + cost + SLA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carbon vs cost trade-off</a:t>
            </a:r>
          </a:p>
          <a:p>
            <a:pPr lvl="1"/>
            <a:r>
              <a:t>Design probabilistic scheduling algorithm</a:t>
            </a:r>
          </a:p>
          <a:p>
            <a:pPr lvl="1"/>
            <a:r>
              <a:t>Integrate real carbon &amp; pricing data</a:t>
            </a:r>
          </a:p>
          <a:p>
            <a:pPr lvl="1"/>
            <a:r>
              <a:t>Validate with real workload traces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 – Workloads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Alibaba Cluster Trace (Batch Jobs)</a:t>
            </a:r>
          </a:p>
          <a:p>
            <a:pPr lvl="1"/>
            <a:r>
              <a:t>Azure Public Workload Traces</a:t>
            </a:r>
          </a:p>
          <a:p>
            <a:pPr lvl="1"/>
            <a:r>
              <a:t>Real CPU, memory, execution duration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 – Carbon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Electricity Maps (Hourly Grid CI)</a:t>
            </a:r>
          </a:p>
          <a:p>
            <a:pPr lvl="1"/>
            <a:r>
              <a:t>WattTime (Marginal Emissions)</a:t>
            </a:r>
          </a:p>
          <a:p>
            <a:pPr lvl="1"/>
            <a:r>
              <a:t>Region-specific historical carbon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 – 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Spot Price History</a:t>
            </a:r>
          </a:p>
          <a:p>
            <a:pPr lvl="1"/>
            <a:r>
              <a:t>Reserved instance cost modeling</a:t>
            </a:r>
          </a:p>
          <a:p>
            <a:pPr lvl="1"/>
            <a:r>
              <a:t>Cloud Carbon Footprint energy coefficients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Workload Manager</a:t>
            </a:r>
          </a:p>
          <a:p>
            <a:pPr lvl="1"/>
            <a:r>
              <a:t>Carbon Forecast Engine</a:t>
            </a:r>
          </a:p>
          <a:p>
            <a:pPr lvl="1"/>
            <a:r>
              <a:t>Pricing Monitor</a:t>
            </a:r>
          </a:p>
          <a:p>
            <a:pPr lvl="1"/>
            <a:r>
              <a:t>Probabilistic Scheduler</a:t>
            </a:r>
          </a:p>
          <a:p>
            <a:pPr lvl="1"/>
            <a:r>
              <a:t>Execution Engine &amp;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Minimize C_total = Σ(αE(t)P(t) + βCI(t)E(t) + γV(t))</a:t>
            </a:r>
          </a:p>
          <a:p>
            <a:pPr lvl="1"/>
            <a:r>
              <a:t>Balances carbon, cost, and SLA penalties</a:t>
            </a:r>
          </a:p>
          <a:p>
            <a:pPr lvl="1"/>
            <a:r>
              <a:t>Multi-objective dynamic optimization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Fetch 24-hour carbon forecast</a:t>
            </a:r>
          </a:p>
          <a:p>
            <a:pPr lvl="1"/>
            <a:r>
              <a:t>Predict job duration probability</a:t>
            </a:r>
          </a:p>
          <a:p>
            <a:pPr lvl="1"/>
            <a:r>
              <a:t>Estimate carbon savings if shifted</a:t>
            </a:r>
          </a:p>
          <a:p>
            <a:pPr lvl="1"/>
            <a:r>
              <a:t>Calculate idle and SLA cost</a:t>
            </a:r>
          </a:p>
          <a:p>
            <a:pPr lvl="1"/>
            <a:r>
              <a:t>Execute or shift decision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Execution</a:t>
            </a:r>
          </a:p>
          <a:p>
            <a:pPr lvl="1"/>
            <a:r>
              <a:t>Static Carbon Threshold</a:t>
            </a:r>
          </a:p>
          <a:p>
            <a:pPr lvl="1"/>
            <a:r>
              <a:t>Greedy Carbon Minimization</a:t>
            </a:r>
          </a:p>
          <a:p>
            <a:pPr lvl="1"/>
            <a:r>
              <a:t>Cost-Only Optimization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Discrete time-slot simulation</a:t>
            </a:r>
          </a:p>
          <a:p>
            <a:pPr lvl="1"/>
            <a:r>
              <a:t>Hybrid cloud: Reserved + Spot instances</a:t>
            </a:r>
          </a:p>
          <a:p>
            <a:pPr lvl="1"/>
            <a:r>
              <a:t>Real workload + carbon + pricing integration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Setup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181" y="1846263"/>
            <a:ext cx="6034087" cy="4022725"/>
          </a:xfrm>
        </p:spPr>
      </p:pic>
    </p:spTree>
    <p:extLst>
      <p:ext uri="{BB962C8B-B14F-4D97-AF65-F5344CB8AC3E}">
        <p14:creationId xmlns:p14="http://schemas.microsoft.com/office/powerpoint/2010/main" val="2403794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Carbon emission reduction (%)</a:t>
            </a:r>
          </a:p>
          <a:p>
            <a:pPr lvl="1"/>
            <a:r>
              <a:t>Total operational cost</a:t>
            </a:r>
          </a:p>
          <a:p>
            <a:pPr lvl="1"/>
            <a:r>
              <a:t>SLA violation rate</a:t>
            </a:r>
          </a:p>
          <a:p>
            <a:pPr lvl="1"/>
            <a:r>
              <a:t>Throughput and job delay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751" y="1846263"/>
            <a:ext cx="5396947" cy="4022725"/>
          </a:xfrm>
        </p:spPr>
      </p:pic>
    </p:spTree>
    <p:extLst>
      <p:ext uri="{BB962C8B-B14F-4D97-AF65-F5344CB8AC3E}">
        <p14:creationId xmlns:p14="http://schemas.microsoft.com/office/powerpoint/2010/main" val="2321136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175" y="1846263"/>
            <a:ext cx="5336099" cy="4022725"/>
          </a:xfrm>
        </p:spPr>
      </p:pic>
    </p:spTree>
    <p:extLst>
      <p:ext uri="{BB962C8B-B14F-4D97-AF65-F5344CB8AC3E}">
        <p14:creationId xmlns:p14="http://schemas.microsoft.com/office/powerpoint/2010/main" val="1055120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894" y="1846263"/>
            <a:ext cx="5402662" cy="4022725"/>
          </a:xfrm>
        </p:spPr>
      </p:pic>
    </p:spTree>
    <p:extLst>
      <p:ext uri="{BB962C8B-B14F-4D97-AF65-F5344CB8AC3E}">
        <p14:creationId xmlns:p14="http://schemas.microsoft.com/office/powerpoint/2010/main" val="2890970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Trade-Off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Weight tuning (α, β, γ) controls balance</a:t>
            </a:r>
          </a:p>
          <a:p>
            <a:pPr lvl="1"/>
            <a:r>
              <a:t>Carbon reduction vs cost increase curves</a:t>
            </a:r>
          </a:p>
          <a:p>
            <a:pPr lvl="1"/>
            <a:r>
              <a:t>Optimal balance achieved by proposed model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Sensitivity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Tested under workload spikes</a:t>
            </a:r>
          </a:p>
          <a:p>
            <a:pPr lvl="1"/>
            <a:r>
              <a:t>Carbon volatility scenarios</a:t>
            </a:r>
          </a:p>
          <a:p>
            <a:pPr lvl="1"/>
            <a:r>
              <a:t>Spot price fluctuations</a:t>
            </a:r>
          </a:p>
          <a:p>
            <a:pPr lvl="1"/>
            <a:r>
              <a:t>Near-linear scalability observed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Cost-aware probabilistic temporal shifting</a:t>
            </a:r>
          </a:p>
          <a:p>
            <a:pPr lvl="1"/>
            <a:r>
              <a:t>Real-world trace integration</a:t>
            </a:r>
          </a:p>
          <a:p>
            <a:pPr lvl="1"/>
            <a:r>
              <a:t>Multi-objective optimization formulation</a:t>
            </a:r>
          </a:p>
          <a:p>
            <a:pPr lvl="1"/>
            <a:r>
              <a:t>Comprehensive baseline validation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Reinforcement learning scheduler</a:t>
            </a:r>
          </a:p>
          <a:p>
            <a:pPr lvl="1"/>
            <a:r>
              <a:t>Multi-region carbon-aware migration</a:t>
            </a:r>
          </a:p>
          <a:p>
            <a:pPr lvl="1"/>
            <a:r>
              <a:t>Integration with Kubernetes</a:t>
            </a:r>
          </a:p>
          <a:p>
            <a:pPr lvl="1"/>
            <a:r>
              <a:t>Real-time deployment testing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Balanced carbon-cost-SLA optimization achieved</a:t>
            </a:r>
          </a:p>
          <a:p>
            <a:pPr lvl="1"/>
            <a:r>
              <a:t>Improved sustainability without economic loss</a:t>
            </a:r>
          </a:p>
          <a:p>
            <a:pPr lvl="1"/>
            <a:r>
              <a:t>Practical framework for green cloud computing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</TotalTime>
  <Words>349</Words>
  <Application>Microsoft Office PowerPoint</Application>
  <PresentationFormat>On-screen Show (4:3)</PresentationFormat>
  <Paragraphs>86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Calibri</vt:lpstr>
      <vt:lpstr>Calibri Light</vt:lpstr>
      <vt:lpstr>Retrospect</vt:lpstr>
      <vt:lpstr>Cost-Aware Probabilistic Temporal Shifting Framework</vt:lpstr>
      <vt:lpstr>Motivation</vt:lpstr>
      <vt:lpstr>Research Gap</vt:lpstr>
      <vt:lpstr>Research Objectives</vt:lpstr>
      <vt:lpstr>Data Sources – Workloads</vt:lpstr>
      <vt:lpstr>Data Sources – Carbon</vt:lpstr>
      <vt:lpstr>Data Sources – Pricing</vt:lpstr>
      <vt:lpstr>System Architecture</vt:lpstr>
      <vt:lpstr>Optimization Model</vt:lpstr>
      <vt:lpstr>Algorithm Workflow</vt:lpstr>
      <vt:lpstr>Baseline Comparison</vt:lpstr>
      <vt:lpstr>Experimental Setup</vt:lpstr>
      <vt:lpstr>Experimental Setup</vt:lpstr>
      <vt:lpstr>Evaluation Metrics</vt:lpstr>
      <vt:lpstr>Evaluation Metrics</vt:lpstr>
      <vt:lpstr>Evaluation Metrics</vt:lpstr>
      <vt:lpstr>Evaluation Metrics</vt:lpstr>
      <vt:lpstr>Trade-Off Analysis</vt:lpstr>
      <vt:lpstr>Sensitivity &amp; Scalability</vt:lpstr>
      <vt:lpstr>Key Contributions</vt:lpstr>
      <vt:lpstr>Future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Cost-Aware Probabilistic Temporal Shifting Framework</dc:title>
  <dc:subject/>
  <dc:creator/>
  <cp:keywords/>
  <dc:description>generated using python-pptx</dc:description>
  <cp:lastModifiedBy>student</cp:lastModifiedBy>
  <cp:revision>3</cp:revision>
  <dcterms:created xsi:type="dcterms:W3CDTF">2013-01-27T09:14:16Z</dcterms:created>
  <dcterms:modified xsi:type="dcterms:W3CDTF">2026-02-26T10:29:25Z</dcterms:modified>
  <cp:category/>
</cp:coreProperties>
</file>